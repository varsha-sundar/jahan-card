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Playfair Display"/>
      <p:regular r:id="rId16"/>
      <p:bold r:id="rId17"/>
      <p:italic r:id="rId18"/>
      <p:boldItalic r:id="rId19"/>
    </p:embeddedFont>
    <p:embeddedFont>
      <p:font typeface="Pacifico"/>
      <p:regular r:id="rId20"/>
    </p:embeddedFont>
    <p:embeddedFont>
      <p:font typeface="Helvetica Neue"/>
      <p:regular r:id="rId21"/>
      <p:bold r:id="rId22"/>
      <p:italic r:id="rId23"/>
      <p:boldItalic r:id="rId24"/>
    </p:embeddedFont>
    <p:embeddedFont>
      <p:font typeface="Onest"/>
      <p:regular r:id="rId25"/>
      <p:bold r:id="rId26"/>
    </p:embeddedFont>
    <p:embeddedFont>
      <p:font typeface="Merriweath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Jared Goodm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acifico-regular.fntdata"/><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Onest-bold.fntdata"/><Relationship Id="rId25" Type="http://schemas.openxmlformats.org/officeDocument/2006/relationships/font" Target="fonts/Onest-regular.fntdata"/><Relationship Id="rId28" Type="http://schemas.openxmlformats.org/officeDocument/2006/relationships/font" Target="fonts/Merriweather-bold.fntdata"/><Relationship Id="rId27" Type="http://schemas.openxmlformats.org/officeDocument/2006/relationships/font" Target="fonts/Merriweather-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erriweather-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Merriweath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ayfairDisplay-bold.fntdata"/><Relationship Id="rId16" Type="http://schemas.openxmlformats.org/officeDocument/2006/relationships/font" Target="fonts/PlayfairDisplay-regular.fntdata"/><Relationship Id="rId19" Type="http://schemas.openxmlformats.org/officeDocument/2006/relationships/font" Target="fonts/PlayfairDisplay-boldItalic.fntdata"/><Relationship Id="rId18" Type="http://schemas.openxmlformats.org/officeDocument/2006/relationships/font" Target="fonts/PlayfairDisplay-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7T15:27:58.847">
    <p:pos x="6000" y="0"/>
    <p:text>@varsha.sundar@ridewithvia.com add GOAT image?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973602d42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973602d42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74f6e104e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74f6e104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674d2362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674d2362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74f6e104e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74f6e104e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755078ac0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9755078ac0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755078ac0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755078ac0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9755078ac0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9755078ac0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755078ac0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755078ac0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CE5CD"/>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jpg"/><Relationship Id="rId5"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drive.google.com/file/d/1nzJqMVTyJ5vIPHqE85LFB838w-h1-aKK/view" TargetMode="Externa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IMG_5782.jpg"/>
          <p:cNvPicPr preferRelativeResize="0"/>
          <p:nvPr/>
        </p:nvPicPr>
        <p:blipFill>
          <a:blip r:embed="rId3">
            <a:alphaModFix/>
          </a:blip>
          <a:stretch>
            <a:fillRect/>
          </a:stretch>
        </p:blipFill>
        <p:spPr>
          <a:xfrm>
            <a:off x="3454574" y="1511472"/>
            <a:ext cx="2617377" cy="3278577"/>
          </a:xfrm>
          <a:prstGeom prst="rect">
            <a:avLst/>
          </a:prstGeom>
          <a:noFill/>
          <a:ln>
            <a:noFill/>
          </a:ln>
        </p:spPr>
      </p:pic>
      <p:pic>
        <p:nvPicPr>
          <p:cNvPr id="55" name="Google Shape;55;p13" title="IMG_0365.jpg"/>
          <p:cNvPicPr preferRelativeResize="0"/>
          <p:nvPr/>
        </p:nvPicPr>
        <p:blipFill rotWithShape="1">
          <a:blip r:embed="rId4">
            <a:alphaModFix/>
          </a:blip>
          <a:srcRect b="0" l="9037" r="24615" t="0"/>
          <a:stretch/>
        </p:blipFill>
        <p:spPr>
          <a:xfrm>
            <a:off x="468450" y="1511461"/>
            <a:ext cx="2900362" cy="3278592"/>
          </a:xfrm>
          <a:prstGeom prst="rect">
            <a:avLst/>
          </a:prstGeom>
          <a:noFill/>
          <a:ln>
            <a:noFill/>
          </a:ln>
        </p:spPr>
      </p:pic>
      <p:sp>
        <p:nvSpPr>
          <p:cNvPr id="56" name="Google Shape;56;p13"/>
          <p:cNvSpPr txBox="1"/>
          <p:nvPr/>
        </p:nvSpPr>
        <p:spPr>
          <a:xfrm>
            <a:off x="468450" y="353438"/>
            <a:ext cx="8207100" cy="1026900"/>
          </a:xfrm>
          <a:prstGeom prst="rect">
            <a:avLst/>
          </a:prstGeom>
          <a:noFill/>
          <a:ln>
            <a:noFill/>
          </a:ln>
        </p:spPr>
        <p:txBody>
          <a:bodyPr anchorCtr="0" anchor="t" bIns="133200" lIns="133200" spcFirstLastPara="1" rIns="133200" wrap="square" tIns="133200">
            <a:noAutofit/>
          </a:bodyPr>
          <a:lstStyle/>
          <a:p>
            <a:pPr indent="0" lvl="0" marL="0" rtl="0" algn="ctr">
              <a:spcBef>
                <a:spcPts val="0"/>
              </a:spcBef>
              <a:spcAft>
                <a:spcPts val="0"/>
              </a:spcAft>
              <a:buNone/>
            </a:pPr>
            <a:r>
              <a:rPr b="1" lang="en" sz="2768">
                <a:solidFill>
                  <a:srgbClr val="1C4587"/>
                </a:solidFill>
                <a:latin typeface="Onest"/>
                <a:ea typeface="Onest"/>
                <a:cs typeface="Onest"/>
                <a:sym typeface="Onest"/>
              </a:rPr>
              <a:t>Thank you Jahan! </a:t>
            </a:r>
            <a:endParaRPr b="1" sz="2768">
              <a:solidFill>
                <a:srgbClr val="1C4587"/>
              </a:solidFill>
              <a:latin typeface="Onest"/>
              <a:ea typeface="Onest"/>
              <a:cs typeface="Onest"/>
              <a:sym typeface="Onest"/>
            </a:endParaRPr>
          </a:p>
          <a:p>
            <a:pPr indent="0" lvl="0" marL="0" rtl="0" algn="ctr">
              <a:spcBef>
                <a:spcPts val="0"/>
              </a:spcBef>
              <a:spcAft>
                <a:spcPts val="0"/>
              </a:spcAft>
              <a:buNone/>
            </a:pPr>
            <a:r>
              <a:rPr b="1" lang="en" sz="2768">
                <a:solidFill>
                  <a:srgbClr val="1C4587"/>
                </a:solidFill>
                <a:latin typeface="Onest"/>
                <a:ea typeface="Onest"/>
                <a:cs typeface="Onest"/>
                <a:sym typeface="Onest"/>
              </a:rPr>
              <a:t>Wishing you well on your next adventure! </a:t>
            </a:r>
            <a:endParaRPr b="1" sz="2768">
              <a:solidFill>
                <a:srgbClr val="1C4587"/>
              </a:solidFill>
              <a:latin typeface="Onest"/>
              <a:ea typeface="Onest"/>
              <a:cs typeface="Onest"/>
              <a:sym typeface="Onest"/>
            </a:endParaRPr>
          </a:p>
        </p:txBody>
      </p:sp>
      <p:pic>
        <p:nvPicPr>
          <p:cNvPr id="57" name="Google Shape;57;p13" title="IMG_7834.jpg"/>
          <p:cNvPicPr preferRelativeResize="0"/>
          <p:nvPr/>
        </p:nvPicPr>
        <p:blipFill rotWithShape="1">
          <a:blip r:embed="rId5">
            <a:alphaModFix/>
          </a:blip>
          <a:srcRect b="2325" l="0" r="0" t="0"/>
          <a:stretch/>
        </p:blipFill>
        <p:spPr>
          <a:xfrm>
            <a:off x="6157742" y="1511479"/>
            <a:ext cx="2517496" cy="327858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61" name="Shape 61"/>
        <p:cNvGrpSpPr/>
        <p:nvPr/>
      </p:nvGrpSpPr>
      <p:grpSpPr>
        <a:xfrm>
          <a:off x="0" y="0"/>
          <a:ext cx="0" cy="0"/>
          <a:chOff x="0" y="0"/>
          <a:chExt cx="0" cy="0"/>
        </a:xfrm>
      </p:grpSpPr>
      <p:sp>
        <p:nvSpPr>
          <p:cNvPr id="62" name="Google Shape;62;p14"/>
          <p:cNvSpPr txBox="1"/>
          <p:nvPr/>
        </p:nvSpPr>
        <p:spPr>
          <a:xfrm>
            <a:off x="236125" y="583350"/>
            <a:ext cx="4467000" cy="388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20124D"/>
                </a:solidFill>
                <a:latin typeface="Merriweather"/>
                <a:ea typeface="Merriweather"/>
                <a:cs typeface="Merriweather"/>
                <a:sym typeface="Merriweather"/>
              </a:rPr>
              <a:t>Jahan! You are truly such a joy to work with. Your intelligence, work ethic, and genuine openness to feedback and input make you one of those rare people who can excel at anything you set your mind to. I have complete confidence that you’ll be incredibly successful in your next role.</a:t>
            </a:r>
            <a:endParaRPr b="1" sz="1100">
              <a:solidFill>
                <a:srgbClr val="20124D"/>
              </a:solidFill>
              <a:latin typeface="Merriweather"/>
              <a:ea typeface="Merriweather"/>
              <a:cs typeface="Merriweather"/>
              <a:sym typeface="Merriweather"/>
            </a:endParaRPr>
          </a:p>
          <a:p>
            <a:pPr indent="0" lvl="0" marL="0" rtl="0" algn="l">
              <a:lnSpc>
                <a:spcPct val="115000"/>
              </a:lnSpc>
              <a:spcBef>
                <a:spcPts val="0"/>
              </a:spcBef>
              <a:spcAft>
                <a:spcPts val="0"/>
              </a:spcAft>
              <a:buNone/>
            </a:pPr>
            <a:r>
              <a:t/>
            </a:r>
            <a:endParaRPr b="1" sz="1100">
              <a:solidFill>
                <a:srgbClr val="20124D"/>
              </a:solidFill>
              <a:latin typeface="Merriweather"/>
              <a:ea typeface="Merriweather"/>
              <a:cs typeface="Merriweather"/>
              <a:sym typeface="Merriweather"/>
            </a:endParaRPr>
          </a:p>
          <a:p>
            <a:pPr indent="0" lvl="0" marL="0" rtl="0" algn="l">
              <a:lnSpc>
                <a:spcPct val="115000"/>
              </a:lnSpc>
              <a:spcBef>
                <a:spcPts val="0"/>
              </a:spcBef>
              <a:spcAft>
                <a:spcPts val="0"/>
              </a:spcAft>
              <a:buNone/>
            </a:pPr>
            <a:r>
              <a:rPr b="1" lang="en" sz="1100">
                <a:solidFill>
                  <a:srgbClr val="20124D"/>
                </a:solidFill>
                <a:latin typeface="Merriweather"/>
                <a:ea typeface="Merriweather"/>
                <a:cs typeface="Merriweather"/>
                <a:sym typeface="Merriweather"/>
              </a:rPr>
              <a:t>The team is so lucky to have you, and while I’m sad to see you leave Product, I’m very happy that you’ll still be at Via. Thank you for everything you’ve contributed during your time on the Product team. From the bookings page, payments, ride groups, to your relentless attention to detail and extreme ownership of even the smallest decisions, to pioneering our Voice AI and Long Term Assignments products — you’ve left a meaningful and lasting imprint on both the product and our users.</a:t>
            </a:r>
            <a:endParaRPr b="1" sz="1100">
              <a:solidFill>
                <a:srgbClr val="20124D"/>
              </a:solidFill>
              <a:latin typeface="Merriweather"/>
              <a:ea typeface="Merriweather"/>
              <a:cs typeface="Merriweather"/>
              <a:sym typeface="Merriweather"/>
            </a:endParaRPr>
          </a:p>
          <a:p>
            <a:pPr indent="0" lvl="0" marL="0" rtl="0" algn="l">
              <a:lnSpc>
                <a:spcPct val="115000"/>
              </a:lnSpc>
              <a:spcBef>
                <a:spcPts val="0"/>
              </a:spcBef>
              <a:spcAft>
                <a:spcPts val="0"/>
              </a:spcAft>
              <a:buNone/>
            </a:pPr>
            <a:r>
              <a:t/>
            </a:r>
            <a:endParaRPr b="1" sz="1100">
              <a:solidFill>
                <a:srgbClr val="20124D"/>
              </a:solidFill>
              <a:latin typeface="Merriweather"/>
              <a:ea typeface="Merriweather"/>
              <a:cs typeface="Merriweather"/>
              <a:sym typeface="Merriweather"/>
            </a:endParaRPr>
          </a:p>
          <a:p>
            <a:pPr indent="0" lvl="0" marL="0" rtl="0" algn="l">
              <a:lnSpc>
                <a:spcPct val="115000"/>
              </a:lnSpc>
              <a:spcBef>
                <a:spcPts val="0"/>
              </a:spcBef>
              <a:spcAft>
                <a:spcPts val="0"/>
              </a:spcAft>
              <a:buNone/>
            </a:pPr>
            <a:r>
              <a:rPr b="1" lang="en" sz="1100">
                <a:solidFill>
                  <a:srgbClr val="20124D"/>
                </a:solidFill>
                <a:latin typeface="Merriweather"/>
                <a:ea typeface="Merriweather"/>
                <a:cs typeface="Merriweather"/>
                <a:sym typeface="Merriweather"/>
              </a:rPr>
              <a:t>Thank you, Jahan!! I’m always rooting for you!</a:t>
            </a:r>
            <a:endParaRPr b="1" sz="1100">
              <a:solidFill>
                <a:srgbClr val="20124D"/>
              </a:solidFill>
              <a:latin typeface="Merriweather"/>
              <a:ea typeface="Merriweather"/>
              <a:cs typeface="Merriweather"/>
              <a:sym typeface="Merriweather"/>
            </a:endParaRPr>
          </a:p>
          <a:p>
            <a:pPr indent="0" lvl="0" marL="0" rtl="0" algn="l">
              <a:lnSpc>
                <a:spcPct val="115000"/>
              </a:lnSpc>
              <a:spcBef>
                <a:spcPts val="0"/>
              </a:spcBef>
              <a:spcAft>
                <a:spcPts val="0"/>
              </a:spcAft>
              <a:buNone/>
            </a:pPr>
            <a:r>
              <a:t/>
            </a:r>
            <a:endParaRPr b="1" sz="1100">
              <a:solidFill>
                <a:srgbClr val="20124D"/>
              </a:solidFill>
              <a:latin typeface="Merriweather"/>
              <a:ea typeface="Merriweather"/>
              <a:cs typeface="Merriweather"/>
              <a:sym typeface="Merriweather"/>
            </a:endParaRPr>
          </a:p>
          <a:p>
            <a:pPr indent="0" lvl="0" marL="0" rtl="0" algn="l">
              <a:lnSpc>
                <a:spcPct val="115000"/>
              </a:lnSpc>
              <a:spcBef>
                <a:spcPts val="0"/>
              </a:spcBef>
              <a:spcAft>
                <a:spcPts val="0"/>
              </a:spcAft>
              <a:buNone/>
            </a:pPr>
            <a:r>
              <a:rPr b="1" lang="en" sz="1100">
                <a:solidFill>
                  <a:srgbClr val="20124D"/>
                </a:solidFill>
                <a:latin typeface="Merriweather"/>
                <a:ea typeface="Merriweather"/>
                <a:cs typeface="Merriweather"/>
                <a:sym typeface="Merriweather"/>
              </a:rPr>
              <a:t>- Courtney </a:t>
            </a:r>
            <a:endParaRPr b="1" sz="1100">
              <a:solidFill>
                <a:srgbClr val="20124D"/>
              </a:solidFill>
              <a:latin typeface="Merriweather"/>
              <a:ea typeface="Merriweather"/>
              <a:cs typeface="Merriweather"/>
              <a:sym typeface="Merriweather"/>
            </a:endParaRPr>
          </a:p>
        </p:txBody>
      </p:sp>
      <p:sp>
        <p:nvSpPr>
          <p:cNvPr id="63" name="Google Shape;63;p14"/>
          <p:cNvSpPr txBox="1"/>
          <p:nvPr/>
        </p:nvSpPr>
        <p:spPr>
          <a:xfrm>
            <a:off x="5207925" y="583350"/>
            <a:ext cx="34791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351C75"/>
                </a:solidFill>
                <a:latin typeface="Pacifico"/>
                <a:ea typeface="Pacifico"/>
                <a:cs typeface="Pacifico"/>
                <a:sym typeface="Pacifico"/>
              </a:rPr>
              <a:t>Jahan, it was nice having you as my seat neighbor for a little while! Thanks for still being on the Product team at heart and helping us cooperate effectively with your awesome new team :) I’m grateful for your collaborative spirit, and I have no doubt you're going to do a fantastic job in your new role!</a:t>
            </a:r>
            <a:endParaRPr sz="1500">
              <a:solidFill>
                <a:srgbClr val="351C75"/>
              </a:solidFill>
              <a:latin typeface="Pacifico"/>
              <a:ea typeface="Pacifico"/>
              <a:cs typeface="Pacifico"/>
              <a:sym typeface="Pacifico"/>
            </a:endParaRPr>
          </a:p>
          <a:p>
            <a:pPr indent="0" lvl="0" marL="0" rtl="0" algn="l">
              <a:spcBef>
                <a:spcPts val="0"/>
              </a:spcBef>
              <a:spcAft>
                <a:spcPts val="0"/>
              </a:spcAft>
              <a:buNone/>
            </a:pPr>
            <a:r>
              <a:t/>
            </a:r>
            <a:endParaRPr sz="1500">
              <a:solidFill>
                <a:srgbClr val="351C75"/>
              </a:solidFill>
              <a:latin typeface="Pacifico"/>
              <a:ea typeface="Pacifico"/>
              <a:cs typeface="Pacifico"/>
              <a:sym typeface="Pacifico"/>
            </a:endParaRPr>
          </a:p>
          <a:p>
            <a:pPr indent="0" lvl="0" marL="0" rtl="0" algn="l">
              <a:spcBef>
                <a:spcPts val="0"/>
              </a:spcBef>
              <a:spcAft>
                <a:spcPts val="0"/>
              </a:spcAft>
              <a:buNone/>
            </a:pPr>
            <a:r>
              <a:rPr lang="en" sz="1500">
                <a:solidFill>
                  <a:srgbClr val="351C75"/>
                </a:solidFill>
                <a:latin typeface="Pacifico"/>
                <a:ea typeface="Pacifico"/>
                <a:cs typeface="Pacifico"/>
                <a:sym typeface="Pacifico"/>
              </a:rPr>
              <a:t>- Jwanah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67" name="Shape 67"/>
        <p:cNvGrpSpPr/>
        <p:nvPr/>
      </p:nvGrpSpPr>
      <p:grpSpPr>
        <a:xfrm>
          <a:off x="0" y="0"/>
          <a:ext cx="0" cy="0"/>
          <a:chOff x="0" y="0"/>
          <a:chExt cx="0" cy="0"/>
        </a:xfrm>
      </p:grpSpPr>
      <p:sp>
        <p:nvSpPr>
          <p:cNvPr id="68" name="Google Shape;68;p15"/>
          <p:cNvSpPr txBox="1"/>
          <p:nvPr/>
        </p:nvSpPr>
        <p:spPr>
          <a:xfrm>
            <a:off x="458725" y="985750"/>
            <a:ext cx="4113300" cy="3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9" name="Google Shape;69;p15"/>
          <p:cNvSpPr txBox="1"/>
          <p:nvPr/>
        </p:nvSpPr>
        <p:spPr>
          <a:xfrm>
            <a:off x="439200" y="439200"/>
            <a:ext cx="4411500" cy="34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0C343D"/>
              </a:solidFill>
            </a:endParaRPr>
          </a:p>
        </p:txBody>
      </p:sp>
      <p:sp>
        <p:nvSpPr>
          <p:cNvPr id="70" name="Google Shape;70;p15"/>
          <p:cNvSpPr txBox="1"/>
          <p:nvPr/>
        </p:nvSpPr>
        <p:spPr>
          <a:xfrm>
            <a:off x="55650" y="172725"/>
            <a:ext cx="4795200" cy="462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rgbClr val="20124D"/>
                </a:solidFill>
                <a:latin typeface="Onest"/>
                <a:ea typeface="Onest"/>
                <a:cs typeface="Onest"/>
                <a:sym typeface="Onest"/>
              </a:rPr>
              <a:t>Jahan! It was an honor to have you on the Operator product team and we're so thrilled for your next adventure (where you're already thriving!).</a:t>
            </a:r>
            <a:endParaRPr b="1" sz="1100">
              <a:solidFill>
                <a:srgbClr val="20124D"/>
              </a:solidFill>
              <a:latin typeface="Onest"/>
              <a:ea typeface="Onest"/>
              <a:cs typeface="Onest"/>
              <a:sym typeface="Onest"/>
            </a:endParaRPr>
          </a:p>
          <a:p>
            <a:pPr indent="0" lvl="0" marL="0" rtl="0" algn="l">
              <a:lnSpc>
                <a:spcPct val="115000"/>
              </a:lnSpc>
              <a:spcBef>
                <a:spcPts val="0"/>
              </a:spcBef>
              <a:spcAft>
                <a:spcPts val="0"/>
              </a:spcAft>
              <a:buNone/>
            </a:pPr>
            <a:r>
              <a:t/>
            </a:r>
            <a:endParaRPr b="1" sz="1100">
              <a:solidFill>
                <a:srgbClr val="20124D"/>
              </a:solidFill>
              <a:latin typeface="Onest"/>
              <a:ea typeface="Onest"/>
              <a:cs typeface="Onest"/>
              <a:sym typeface="Onest"/>
            </a:endParaRPr>
          </a:p>
          <a:p>
            <a:pPr indent="0" lvl="0" marL="0" rtl="0" algn="l">
              <a:lnSpc>
                <a:spcPct val="115000"/>
              </a:lnSpc>
              <a:spcBef>
                <a:spcPts val="0"/>
              </a:spcBef>
              <a:spcAft>
                <a:spcPts val="0"/>
              </a:spcAft>
              <a:buNone/>
            </a:pPr>
            <a:r>
              <a:rPr b="1" lang="en" sz="1100">
                <a:solidFill>
                  <a:srgbClr val="20124D"/>
                </a:solidFill>
                <a:latin typeface="Onest"/>
                <a:ea typeface="Onest"/>
                <a:cs typeface="Onest"/>
                <a:sym typeface="Onest"/>
              </a:rPr>
              <a:t>We learned a ton from your knowledge at Via - especially about our partners and users. You made a huge impact on IVR, Booking Management, Planning, Pricing and many more products you worked on, redefining how we built product and work with Engineering and Business teams. That's no small feat in a few years! It’s also remarkable how you can jump into the most challenging projects and always figure out a solution.</a:t>
            </a:r>
            <a:endParaRPr b="1" sz="1100">
              <a:solidFill>
                <a:srgbClr val="20124D"/>
              </a:solidFill>
              <a:latin typeface="Onest"/>
              <a:ea typeface="Onest"/>
              <a:cs typeface="Onest"/>
              <a:sym typeface="Onest"/>
            </a:endParaRPr>
          </a:p>
          <a:p>
            <a:pPr indent="0" lvl="0" marL="0" rtl="0" algn="l">
              <a:lnSpc>
                <a:spcPct val="115000"/>
              </a:lnSpc>
              <a:spcBef>
                <a:spcPts val="0"/>
              </a:spcBef>
              <a:spcAft>
                <a:spcPts val="0"/>
              </a:spcAft>
              <a:buNone/>
            </a:pPr>
            <a:r>
              <a:t/>
            </a:r>
            <a:endParaRPr b="1" sz="1000">
              <a:solidFill>
                <a:srgbClr val="20124D"/>
              </a:solidFill>
              <a:latin typeface="Onest"/>
              <a:ea typeface="Onest"/>
              <a:cs typeface="Onest"/>
              <a:sym typeface="Onest"/>
            </a:endParaRPr>
          </a:p>
          <a:p>
            <a:pPr indent="0" lvl="0" marL="0" rtl="0" algn="l">
              <a:lnSpc>
                <a:spcPct val="115000"/>
              </a:lnSpc>
              <a:spcBef>
                <a:spcPts val="0"/>
              </a:spcBef>
              <a:spcAft>
                <a:spcPts val="0"/>
              </a:spcAft>
              <a:buNone/>
            </a:pPr>
            <a:r>
              <a:rPr b="1" lang="en" sz="1100">
                <a:solidFill>
                  <a:srgbClr val="20124D"/>
                </a:solidFill>
                <a:latin typeface="Onest"/>
                <a:ea typeface="Onest"/>
                <a:cs typeface="Onest"/>
                <a:sym typeface="Onest"/>
              </a:rPr>
              <a:t>Thank you for everything you've contributed to our team culture all the way to your last day (and beyond!), making sure everyone was set up for success.</a:t>
            </a:r>
            <a:endParaRPr b="1" sz="1100">
              <a:solidFill>
                <a:srgbClr val="20124D"/>
              </a:solidFill>
              <a:latin typeface="Onest"/>
              <a:ea typeface="Onest"/>
              <a:cs typeface="Onest"/>
              <a:sym typeface="Onest"/>
            </a:endParaRPr>
          </a:p>
          <a:p>
            <a:pPr indent="0" lvl="0" marL="0" rtl="0" algn="l">
              <a:lnSpc>
                <a:spcPct val="115000"/>
              </a:lnSpc>
              <a:spcBef>
                <a:spcPts val="0"/>
              </a:spcBef>
              <a:spcAft>
                <a:spcPts val="0"/>
              </a:spcAft>
              <a:buNone/>
            </a:pPr>
            <a:r>
              <a:t/>
            </a:r>
            <a:endParaRPr b="1" sz="1100">
              <a:solidFill>
                <a:srgbClr val="20124D"/>
              </a:solidFill>
              <a:latin typeface="Onest"/>
              <a:ea typeface="Onest"/>
              <a:cs typeface="Onest"/>
              <a:sym typeface="Onest"/>
            </a:endParaRPr>
          </a:p>
          <a:p>
            <a:pPr indent="0" lvl="0" marL="0" rtl="0" algn="l">
              <a:lnSpc>
                <a:spcPct val="115000"/>
              </a:lnSpc>
              <a:spcBef>
                <a:spcPts val="0"/>
              </a:spcBef>
              <a:spcAft>
                <a:spcPts val="0"/>
              </a:spcAft>
              <a:buNone/>
            </a:pPr>
            <a:r>
              <a:rPr b="1" lang="en" sz="1100">
                <a:solidFill>
                  <a:srgbClr val="20124D"/>
                </a:solidFill>
                <a:latin typeface="Onest"/>
                <a:ea typeface="Onest"/>
                <a:cs typeface="Onest"/>
                <a:sym typeface="Onest"/>
              </a:rPr>
              <a:t>We miss having you in Product, but relieved we continue to work with you and Delivery Ops - making our teams more connected than ever! Wishing you all the best and can’t wait to cheer you on. </a:t>
            </a:r>
            <a:endParaRPr b="1" sz="1100">
              <a:solidFill>
                <a:srgbClr val="20124D"/>
              </a:solidFill>
              <a:latin typeface="Onest"/>
              <a:ea typeface="Onest"/>
              <a:cs typeface="Onest"/>
              <a:sym typeface="Onest"/>
            </a:endParaRPr>
          </a:p>
          <a:p>
            <a:pPr indent="0" lvl="0" marL="0" rtl="0" algn="l">
              <a:lnSpc>
                <a:spcPct val="115000"/>
              </a:lnSpc>
              <a:spcBef>
                <a:spcPts val="0"/>
              </a:spcBef>
              <a:spcAft>
                <a:spcPts val="0"/>
              </a:spcAft>
              <a:buNone/>
            </a:pPr>
            <a:r>
              <a:t/>
            </a:r>
            <a:endParaRPr b="1" sz="1100">
              <a:solidFill>
                <a:srgbClr val="20124D"/>
              </a:solidFill>
              <a:latin typeface="Onest"/>
              <a:ea typeface="Onest"/>
              <a:cs typeface="Onest"/>
              <a:sym typeface="Onest"/>
            </a:endParaRPr>
          </a:p>
          <a:p>
            <a:pPr indent="0" lvl="0" marL="0" rtl="0" algn="l">
              <a:lnSpc>
                <a:spcPct val="115000"/>
              </a:lnSpc>
              <a:spcBef>
                <a:spcPts val="0"/>
              </a:spcBef>
              <a:spcAft>
                <a:spcPts val="0"/>
              </a:spcAft>
              <a:buNone/>
            </a:pPr>
            <a:r>
              <a:rPr b="1" lang="en" sz="1100">
                <a:solidFill>
                  <a:srgbClr val="20124D"/>
                </a:solidFill>
                <a:latin typeface="Onest"/>
                <a:ea typeface="Onest"/>
                <a:cs typeface="Onest"/>
                <a:sym typeface="Onest"/>
              </a:rPr>
              <a:t>- Jared </a:t>
            </a:r>
            <a:endParaRPr b="1" sz="1100">
              <a:solidFill>
                <a:srgbClr val="20124D"/>
              </a:solidFill>
              <a:latin typeface="Onest"/>
              <a:ea typeface="Onest"/>
              <a:cs typeface="Onest"/>
              <a:sym typeface="Onest"/>
            </a:endParaRPr>
          </a:p>
          <a:p>
            <a:pPr indent="0" lvl="0" marL="0" rtl="0" algn="l">
              <a:spcBef>
                <a:spcPts val="0"/>
              </a:spcBef>
              <a:spcAft>
                <a:spcPts val="0"/>
              </a:spcAft>
              <a:buNone/>
            </a:pPr>
            <a:r>
              <a:t/>
            </a:r>
            <a:endParaRPr b="1" sz="1200">
              <a:solidFill>
                <a:srgbClr val="0C343D"/>
              </a:solidFill>
              <a:latin typeface="Onest"/>
              <a:ea typeface="Onest"/>
              <a:cs typeface="Onest"/>
              <a:sym typeface="Onest"/>
            </a:endParaRPr>
          </a:p>
          <a:p>
            <a:pPr indent="0" lvl="0" marL="0" rtl="0" algn="l">
              <a:spcBef>
                <a:spcPts val="0"/>
              </a:spcBef>
              <a:spcAft>
                <a:spcPts val="0"/>
              </a:spcAft>
              <a:buNone/>
            </a:pPr>
            <a:r>
              <a:t/>
            </a:r>
            <a:endParaRPr b="1" sz="1200">
              <a:solidFill>
                <a:srgbClr val="0C343D"/>
              </a:solidFill>
              <a:latin typeface="Onest"/>
              <a:ea typeface="Onest"/>
              <a:cs typeface="Onest"/>
              <a:sym typeface="Onest"/>
            </a:endParaRPr>
          </a:p>
        </p:txBody>
      </p:sp>
      <p:sp>
        <p:nvSpPr>
          <p:cNvPr id="71" name="Google Shape;71;p15"/>
          <p:cNvSpPr txBox="1"/>
          <p:nvPr/>
        </p:nvSpPr>
        <p:spPr>
          <a:xfrm>
            <a:off x="0" y="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6E7687"/>
                </a:solidFill>
                <a:latin typeface="Courier New"/>
                <a:ea typeface="Courier New"/>
                <a:cs typeface="Courier New"/>
                <a:sym typeface="Courier New"/>
              </a:rPr>
              <a:t>.</a:t>
            </a:r>
            <a:endParaRPr/>
          </a:p>
        </p:txBody>
      </p:sp>
      <p:sp>
        <p:nvSpPr>
          <p:cNvPr id="72" name="Google Shape;72;p15"/>
          <p:cNvSpPr txBox="1"/>
          <p:nvPr/>
        </p:nvSpPr>
        <p:spPr>
          <a:xfrm>
            <a:off x="5530808" y="631775"/>
            <a:ext cx="34791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351C75"/>
                </a:solidFill>
                <a:latin typeface="Playfair Display"/>
                <a:ea typeface="Playfair Display"/>
                <a:cs typeface="Playfair Display"/>
                <a:sym typeface="Playfair Display"/>
              </a:rPr>
              <a:t>Jahan, you had a massive impact in a short amount of time from launching a new Bookings page to correcting error messages to helping us change critical payment infra. There’s no task too small or big for you and Product and all of us in the org are better for you having been in it.</a:t>
            </a:r>
            <a:endParaRPr sz="1500">
              <a:solidFill>
                <a:srgbClr val="351C75"/>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500">
              <a:solidFill>
                <a:srgbClr val="351C75"/>
              </a:solidFill>
              <a:latin typeface="Playfair Display"/>
              <a:ea typeface="Playfair Display"/>
              <a:cs typeface="Playfair Display"/>
              <a:sym typeface="Playfair Display"/>
            </a:endParaRPr>
          </a:p>
          <a:p>
            <a:pPr indent="0" lvl="0" marL="0" rtl="0" algn="l">
              <a:spcBef>
                <a:spcPts val="0"/>
              </a:spcBef>
              <a:spcAft>
                <a:spcPts val="0"/>
              </a:spcAft>
              <a:buNone/>
            </a:pPr>
            <a:r>
              <a:rPr lang="en" sz="1500">
                <a:solidFill>
                  <a:srgbClr val="351C75"/>
                </a:solidFill>
                <a:latin typeface="Playfair Display"/>
                <a:ea typeface="Playfair Display"/>
                <a:cs typeface="Playfair Display"/>
                <a:sym typeface="Playfair Display"/>
              </a:rPr>
              <a:t>Good luck and just keep lurking in our channels and coming to our 4 pm (3? 2? 1?) happy hours!</a:t>
            </a:r>
            <a:endParaRPr sz="1500">
              <a:solidFill>
                <a:srgbClr val="351C75"/>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500">
              <a:solidFill>
                <a:srgbClr val="351C75"/>
              </a:solidFill>
              <a:latin typeface="Playfair Display"/>
              <a:ea typeface="Playfair Display"/>
              <a:cs typeface="Playfair Display"/>
              <a:sym typeface="Playfair Display"/>
            </a:endParaRPr>
          </a:p>
          <a:p>
            <a:pPr indent="0" lvl="0" marL="0" rtl="0" algn="l">
              <a:spcBef>
                <a:spcPts val="0"/>
              </a:spcBef>
              <a:spcAft>
                <a:spcPts val="0"/>
              </a:spcAft>
              <a:buNone/>
            </a:pPr>
            <a:r>
              <a:rPr lang="en" sz="1500">
                <a:solidFill>
                  <a:srgbClr val="351C75"/>
                </a:solidFill>
                <a:latin typeface="Playfair Display"/>
                <a:ea typeface="Playfair Display"/>
                <a:cs typeface="Playfair Display"/>
                <a:sym typeface="Playfair Display"/>
              </a:rPr>
              <a:t>- Nithya</a:t>
            </a:r>
            <a:endParaRPr sz="1500">
              <a:latin typeface="Playfair Display"/>
              <a:ea typeface="Playfair Display"/>
              <a:cs typeface="Playfair Display"/>
              <a:sym typeface="Playfai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nvSpPr>
        <p:spPr>
          <a:xfrm>
            <a:off x="304875" y="354025"/>
            <a:ext cx="37521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Jahan, a Via legend!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Thanks for </a:t>
            </a:r>
            <a:r>
              <a:rPr lang="en">
                <a:solidFill>
                  <a:srgbClr val="741B47"/>
                </a:solidFill>
                <a:latin typeface="Helvetica Neue"/>
                <a:ea typeface="Helvetica Neue"/>
                <a:cs typeface="Helvetica Neue"/>
                <a:sym typeface="Helvetica Neue"/>
              </a:rPr>
              <a:t>shepherding</a:t>
            </a:r>
            <a:r>
              <a:rPr lang="en">
                <a:solidFill>
                  <a:srgbClr val="741B47"/>
                </a:solidFill>
                <a:latin typeface="Helvetica Neue"/>
                <a:ea typeface="Helvetica Neue"/>
                <a:cs typeface="Helvetica Neue"/>
                <a:sym typeface="Helvetica Neue"/>
              </a:rPr>
              <a:t> me through my first few months at Via &amp; in NYC, I would have been lost without your support, friendship, and VOC expertise. Your impact on the team and our product is still extremely evident, and it’s been a joy to think through and work together on all the different thorny problems we’ve come across.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I’m so excited to see you thrive in your new role, and bring product &amp; delivery closer together.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Our next Liberty game outing will have to be a DelOps x Product special!!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 Varsha</a:t>
            </a:r>
            <a:endParaRPr>
              <a:solidFill>
                <a:srgbClr val="741B47"/>
              </a:solidFill>
              <a:latin typeface="Helvetica Neue"/>
              <a:ea typeface="Helvetica Neue"/>
              <a:cs typeface="Helvetica Neue"/>
              <a:sym typeface="Helvetica Neue"/>
            </a:endParaRPr>
          </a:p>
        </p:txBody>
      </p:sp>
      <p:sp>
        <p:nvSpPr>
          <p:cNvPr id="78" name="Google Shape;78;p16"/>
          <p:cNvSpPr txBox="1"/>
          <p:nvPr/>
        </p:nvSpPr>
        <p:spPr>
          <a:xfrm>
            <a:off x="4489050" y="406500"/>
            <a:ext cx="4443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1C4587"/>
                </a:solidFill>
                <a:latin typeface="Georgia"/>
                <a:ea typeface="Georgia"/>
                <a:cs typeface="Georgia"/>
                <a:sym typeface="Georgia"/>
              </a:rPr>
              <a:t>Jahan! I learned so much about the Via product from you - before you joined our team officially and even more once you did! Thank you for being such a great thought partner in brainstorming about paratransit features. You made quite an impact on our team and the VOC in your time on product, and we’ll miss you! That said, I’m excited for you and your new role and know that you will absolutely crush it. Good luck, and keep visiting us for lunches and happy hours! </a:t>
            </a:r>
            <a:endParaRPr sz="1500">
              <a:solidFill>
                <a:srgbClr val="1C4587"/>
              </a:solidFill>
              <a:latin typeface="Georgia"/>
              <a:ea typeface="Georgia"/>
              <a:cs typeface="Georgia"/>
              <a:sym typeface="Georgia"/>
            </a:endParaRPr>
          </a:p>
          <a:p>
            <a:pPr indent="0" lvl="0" marL="0" rtl="0" algn="l">
              <a:spcBef>
                <a:spcPts val="0"/>
              </a:spcBef>
              <a:spcAft>
                <a:spcPts val="0"/>
              </a:spcAft>
              <a:buNone/>
            </a:pPr>
            <a:r>
              <a:t/>
            </a:r>
            <a:endParaRPr sz="1500">
              <a:solidFill>
                <a:srgbClr val="1C4587"/>
              </a:solidFill>
              <a:latin typeface="Georgia"/>
              <a:ea typeface="Georgia"/>
              <a:cs typeface="Georgia"/>
              <a:sym typeface="Georgia"/>
            </a:endParaRPr>
          </a:p>
          <a:p>
            <a:pPr indent="0" lvl="0" marL="0" rtl="0" algn="l">
              <a:spcBef>
                <a:spcPts val="0"/>
              </a:spcBef>
              <a:spcAft>
                <a:spcPts val="0"/>
              </a:spcAft>
              <a:buNone/>
            </a:pPr>
            <a:r>
              <a:rPr lang="en" sz="1500">
                <a:solidFill>
                  <a:srgbClr val="1C4587"/>
                </a:solidFill>
                <a:latin typeface="Georgia"/>
                <a:ea typeface="Georgia"/>
                <a:cs typeface="Georgia"/>
                <a:sym typeface="Georgia"/>
              </a:rPr>
              <a:t>- Lauren </a:t>
            </a:r>
            <a:endParaRPr sz="1500">
              <a:solidFill>
                <a:srgbClr val="1C4587"/>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2" name="Shape 82"/>
        <p:cNvGrpSpPr/>
        <p:nvPr/>
      </p:nvGrpSpPr>
      <p:grpSpPr>
        <a:xfrm>
          <a:off x="0" y="0"/>
          <a:ext cx="0" cy="0"/>
          <a:chOff x="0" y="0"/>
          <a:chExt cx="0" cy="0"/>
        </a:xfrm>
      </p:grpSpPr>
      <p:sp>
        <p:nvSpPr>
          <p:cNvPr id="83" name="Google Shape;83;p17"/>
          <p:cNvSpPr txBox="1"/>
          <p:nvPr/>
        </p:nvSpPr>
        <p:spPr>
          <a:xfrm>
            <a:off x="304875" y="354025"/>
            <a:ext cx="52314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Jahan!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It feels bittersweet to formally say au revoir from a product perspective, but I know we’ll keep in touch with all things voice AI x delivery ops. Thank you SO much for spending so much time enabling me on all things keypad ivr and voice AI - you are patient, knowledgeable, and creative beyond belief.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You made such a big impact on the book ride experience in the VOC and through voice AI! Your legacy will live on forever in all the voice AI prompts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Wishing you all the luck with leading delivery ops, they are lucky to have you! And of course, on running your contracting business on the side.</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741B47"/>
              </a:solidFill>
              <a:latin typeface="Helvetica Neue"/>
              <a:ea typeface="Helvetica Neue"/>
              <a:cs typeface="Helvetica Neue"/>
              <a:sym typeface="Helvetica Neue"/>
            </a:endParaRPr>
          </a:p>
          <a:p>
            <a:pPr indent="0" lvl="0" marL="0" rtl="0" algn="l">
              <a:spcBef>
                <a:spcPts val="0"/>
              </a:spcBef>
              <a:spcAft>
                <a:spcPts val="0"/>
              </a:spcAft>
              <a:buNone/>
            </a:pPr>
            <a:r>
              <a:rPr lang="en">
                <a:solidFill>
                  <a:srgbClr val="741B47"/>
                </a:solidFill>
                <a:latin typeface="Helvetica Neue"/>
                <a:ea typeface="Helvetica Neue"/>
                <a:cs typeface="Helvetica Neue"/>
                <a:sym typeface="Helvetica Neue"/>
              </a:rPr>
              <a:t>Xx Paula</a:t>
            </a:r>
            <a:endParaRPr>
              <a:solidFill>
                <a:srgbClr val="741B47"/>
              </a:solidFill>
              <a:latin typeface="Helvetica Neue"/>
              <a:ea typeface="Helvetica Neue"/>
              <a:cs typeface="Helvetica Neue"/>
              <a:sym typeface="Helvetica Neue"/>
            </a:endParaRPr>
          </a:p>
        </p:txBody>
      </p:sp>
      <p:pic>
        <p:nvPicPr>
          <p:cNvPr id="84" name="Google Shape;84;p17"/>
          <p:cNvPicPr preferRelativeResize="0"/>
          <p:nvPr/>
        </p:nvPicPr>
        <p:blipFill>
          <a:blip r:embed="rId3">
            <a:alphaModFix/>
          </a:blip>
          <a:stretch>
            <a:fillRect/>
          </a:stretch>
        </p:blipFill>
        <p:spPr>
          <a:xfrm>
            <a:off x="5769425" y="449775"/>
            <a:ext cx="2869724" cy="3826299"/>
          </a:xfrm>
          <a:prstGeom prst="rect">
            <a:avLst/>
          </a:prstGeom>
          <a:noFill/>
          <a:ln>
            <a:noFill/>
          </a:ln>
        </p:spPr>
      </p:pic>
      <p:pic>
        <p:nvPicPr>
          <p:cNvPr id="85" name="Google Shape;85;p17" title="Jahan note.wav">
            <a:hlinkClick r:id="rId4"/>
          </p:cNvPr>
          <p:cNvPicPr preferRelativeResize="0"/>
          <p:nvPr/>
        </p:nvPicPr>
        <p:blipFill>
          <a:blip r:embed="rId5">
            <a:alphaModFix/>
          </a:blip>
          <a:stretch>
            <a:fillRect/>
          </a:stretch>
        </p:blipFill>
        <p:spPr>
          <a:xfrm>
            <a:off x="1348950" y="3818874"/>
            <a:ext cx="45720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89" name="Shape 89"/>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93" name="Shape 93"/>
        <p:cNvGrpSpPr/>
        <p:nvPr/>
      </p:nvGrpSpPr>
      <p:grpSpPr>
        <a:xfrm>
          <a:off x="0" y="0"/>
          <a:ext cx="0" cy="0"/>
          <a:chOff x="0" y="0"/>
          <a:chExt cx="0" cy="0"/>
        </a:xfrm>
      </p:grpSpPr>
      <p:sp>
        <p:nvSpPr>
          <p:cNvPr id="94" name="Google Shape;94;p19"/>
          <p:cNvSpPr txBox="1"/>
          <p:nvPr/>
        </p:nvSpPr>
        <p:spPr>
          <a:xfrm>
            <a:off x="458725" y="985750"/>
            <a:ext cx="4113300" cy="3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5" name="Google Shape;95;p19"/>
          <p:cNvSpPr txBox="1"/>
          <p:nvPr/>
        </p:nvSpPr>
        <p:spPr>
          <a:xfrm>
            <a:off x="439200" y="439200"/>
            <a:ext cx="4411500" cy="34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0C343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03" name="Shape 10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